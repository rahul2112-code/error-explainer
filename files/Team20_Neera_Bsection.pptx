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313" r:id="rId5"/>
    <p:sldId id="310" r:id="rId6"/>
    <p:sldId id="287" r:id="rId7"/>
    <p:sldId id="270" r:id="rId8"/>
    <p:sldId id="295" r:id="rId9"/>
    <p:sldId id="296" r:id="rId10"/>
    <p:sldId id="297" r:id="rId11"/>
    <p:sldId id="299" r:id="rId12"/>
    <p:sldId id="304" r:id="rId13"/>
    <p:sldId id="294" r:id="rId14"/>
    <p:sldId id="284" r:id="rId15"/>
    <p:sldId id="307" r:id="rId16"/>
    <p:sldId id="303" r:id="rId17"/>
    <p:sldId id="293" r:id="rId18"/>
    <p:sldId id="315" r:id="rId19"/>
    <p:sldId id="314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4DC2E-0A0A-50CE-C43A-06ADDC295993}" v="99" dt="2026-05-08T04:21:23.365"/>
    <p1510:client id="{58D2C5A9-D81C-26F5-874B-0AAAFC0B7130}" v="2" dt="2026-05-07T11:40:50.031"/>
    <p1510:client id="{5DC8CCA8-2EC7-3A25-16DD-03E568AECF9F}" v="59" dt="2026-05-08T04:06:42.847"/>
    <p1510:client id="{ADB30FEB-CC0A-863E-E28D-DE9CA077B1BB}" v="35" dt="2026-05-08T03:51:10.60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Literature Survey</a:t>
          </a: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3672145-F932-0941-9207-6FD21631945F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Design [Front End, Back End]</a:t>
          </a:r>
        </a:p>
      </dgm:t>
    </dgm:pt>
    <dgm:pt modelId="{DA9256D3-306A-2647-A641-4B0B371AA471}" type="par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E4E87B9-A6F7-D040-A8C9-2B94C61F8F15}" type="sib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80ED30E-9BB7-2945-8E67-38EC3B69034A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Implementation</a:t>
          </a:r>
        </a:p>
      </dgm:t>
    </dgm:pt>
    <dgm:pt modelId="{CCFA8DD9-517C-4C48-9ACE-EAEC7B4B1D8D}" type="par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81D7FD-E2E0-0241-80C7-1BF3EEF3518C}" type="sib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4352C0E-9228-1D41-9AC7-630454862AAB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Testing</a:t>
          </a:r>
        </a:p>
      </dgm:t>
    </dgm:pt>
    <dgm:pt modelId="{BB03014B-614B-4E4D-B179-22BF96D1FDA5}" type="par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AC5C65-A520-AE49-8D76-EE23E4A07C4A}" type="sib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1E4A29-F563-D34A-A9F7-27833A2BC30D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Document Submission</a:t>
          </a:r>
        </a:p>
      </dgm:t>
    </dgm:pt>
    <dgm:pt modelId="{B9E7D4BF-66C0-D046-BA68-7E24F4AB0843}" type="par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ED735E-B5D2-C749-867E-EB96611C0B8B}" type="sib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316EBEC-E0B6-BD4E-AD52-3E0E70225984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&lt;</a:t>
          </a:r>
          <a:r>
            <a:rPr lang="en-US">
              <a:solidFill>
                <a:schemeClr val="tx1"/>
              </a:solidFill>
              <a:latin typeface="Helvetica"/>
              <a:cs typeface="Helvetica"/>
            </a:rPr>
            <a:t>25th</a:t>
          </a:r>
          <a:r>
            <a:rPr lang="en-US">
              <a:solidFill>
                <a:schemeClr val="tx1"/>
              </a:solidFill>
            </a:rPr>
            <a:t> March 2026&gt;</a:t>
          </a:r>
        </a:p>
      </dgm:t>
    </dgm:pt>
    <dgm:pt modelId="{EE76EAF1-518C-9B48-86C2-CE4C4196E58C}" type="parTrans" cxnId="{1E415E1F-0CAF-8041-91C0-B6D0D7FA697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CDFD06A-C665-0F4C-B72B-48C9DBE0EF22}" type="sibTrans" cxnId="{1E415E1F-0CAF-8041-91C0-B6D0D7FA697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69F03D-EC0D-E14C-9147-635163E16719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&lt;</a:t>
          </a:r>
          <a:r>
            <a:rPr lang="en-US">
              <a:solidFill>
                <a:schemeClr val="tx1"/>
              </a:solidFill>
              <a:latin typeface="Helvetica"/>
              <a:cs typeface="Helvetica"/>
            </a:rPr>
            <a:t>5th </a:t>
          </a:r>
          <a:r>
            <a:rPr lang="en-US">
              <a:solidFill>
                <a:schemeClr val="tx1"/>
              </a:solidFill>
            </a:rPr>
            <a:t>April,2026&gt;</a:t>
          </a:r>
        </a:p>
      </dgm:t>
    </dgm:pt>
    <dgm:pt modelId="{31D6F60D-A7D1-C54D-964D-3B8790B82FA4}" type="par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CECCFCD-FFA0-2B4E-8620-4D260FCCA4E0}" type="sib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12C06CF-58B4-8F4A-A1C3-18737522BAA5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&lt;</a:t>
          </a:r>
          <a:r>
            <a:rPr lang="en-US">
              <a:solidFill>
                <a:schemeClr val="tx1"/>
              </a:solidFill>
              <a:latin typeface="Helvetica"/>
              <a:cs typeface="Helvetica"/>
            </a:rPr>
            <a:t>16th</a:t>
          </a:r>
          <a:r>
            <a:rPr lang="en-US">
              <a:solidFill>
                <a:schemeClr val="tx1"/>
              </a:solidFill>
            </a:rPr>
            <a:t> April,2026&gt;</a:t>
          </a:r>
        </a:p>
      </dgm:t>
    </dgm:pt>
    <dgm:pt modelId="{00A2F76A-F4C8-F042-BC58-5B28B1FEF030}" type="par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A6ECC7-ED92-634B-B481-4D7D62B796B5}" type="sib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61BE11-3B98-534C-8389-3D511BB432FF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&lt;</a:t>
          </a:r>
          <a:r>
            <a:rPr lang="en-US">
              <a:solidFill>
                <a:schemeClr val="tx1"/>
              </a:solidFill>
              <a:latin typeface="Helvetica"/>
              <a:cs typeface="Helvetica"/>
            </a:rPr>
            <a:t>25th </a:t>
          </a:r>
          <a:r>
            <a:rPr lang="en-US">
              <a:solidFill>
                <a:schemeClr val="tx1"/>
              </a:solidFill>
            </a:rPr>
            <a:t>April&gt;</a:t>
          </a:r>
        </a:p>
      </dgm:t>
    </dgm:pt>
    <dgm:pt modelId="{53F8C2F9-90C5-F04A-B13E-59A7DBEEB722}" type="par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FC13B1-0710-8745-A251-B44B9B630299}" type="sib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C01FBF-0839-B840-AA40-B5D4B5EF9464}">
      <dgm:prSet phldrT="[Text]" custT="1"/>
      <dgm:spPr/>
      <dgm:t>
        <a:bodyPr/>
        <a:lstStyle/>
        <a:p>
          <a:pPr rtl="0"/>
          <a:r>
            <a:rPr lang="en-US" sz="1200">
              <a:solidFill>
                <a:schemeClr val="tx1"/>
              </a:solidFill>
            </a:rPr>
            <a:t>&lt;</a:t>
          </a:r>
          <a:r>
            <a:rPr lang="en-US" sz="1100">
              <a:solidFill>
                <a:schemeClr val="tx1"/>
              </a:solidFill>
            </a:rPr>
            <a:t> </a:t>
          </a:r>
          <a:r>
            <a:rPr lang="en-US" sz="1100">
              <a:solidFill>
                <a:schemeClr val="tx1"/>
              </a:solidFill>
              <a:latin typeface="Helvetica"/>
              <a:cs typeface="Helvetica"/>
            </a:rPr>
            <a:t>by 9th may </a:t>
          </a:r>
          <a:r>
            <a:rPr lang="en-US" sz="1200">
              <a:solidFill>
                <a:schemeClr val="tx1"/>
              </a:solidFill>
            </a:rPr>
            <a:t>&gt;</a:t>
          </a:r>
        </a:p>
      </dgm:t>
    </dgm:pt>
    <dgm:pt modelId="{4292C26E-910E-F242-B4EA-85C15677A931}" type="par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CE79F6D-8C8B-134E-870B-A3814A161031}" type="sib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B4761A-8722-154A-9A4E-6B2E8309550C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Abstract 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6CE777-E645-594F-9F72-31FA50915471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Helvetica"/>
              <a:cs typeface="Helvetica"/>
            </a:rPr>
            <a:t>15th </a:t>
          </a:r>
          <a:r>
            <a:rPr lang="en-US">
              <a:solidFill>
                <a:schemeClr val="tx1"/>
              </a:solidFill>
            </a:rPr>
            <a:t>March 2026&gt;</a:t>
          </a:r>
        </a:p>
      </dgm:t>
    </dgm:pt>
    <dgm:pt modelId="{A3FA10DA-B8BC-6B42-A66B-27F9CED77F23}" type="par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64EEB12-0851-6B4F-BF84-33083DA26F4B}" type="sib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5"/>
      <dgm:spPr/>
    </dgm:pt>
    <dgm:pt modelId="{1A27501D-E342-BE40-9448-5C65451E51A0}" type="pres">
      <dgm:prSet presAssocID="{26B4761A-8722-154A-9A4E-6B2E8309550C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13263DF5-F771-E44D-A3A6-7359AB5A694B}" type="pres">
      <dgm:prSet presAssocID="{26B4761A-8722-154A-9A4E-6B2E8309550C}" presName="Child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5"/>
      <dgm:spPr/>
    </dgm:pt>
    <dgm:pt modelId="{7176A5BC-3282-044F-8AE1-17BEE6013828}" type="pres">
      <dgm:prSet presAssocID="{16F9E631-8BA3-154F-A6E6-07CA57FBC2DB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849E87F9-77C2-E148-A125-B75B32BAE82F}" type="pres">
      <dgm:prSet presAssocID="{16F9E631-8BA3-154F-A6E6-07CA57FBC2DB}" presName="Child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A7334212-A42F-5947-B178-28EE2431D98C}" type="pres">
      <dgm:prSet presAssocID="{40437896-D1C0-9744-812A-639F6C127825}" presName="sibTrans" presStyleCnt="0"/>
      <dgm:spPr/>
    </dgm:pt>
    <dgm:pt modelId="{797595AA-82E7-9A45-818A-CBFC19FC01B4}" type="pres">
      <dgm:prSet presAssocID="{63672145-F932-0941-9207-6FD21631945F}" presName="composite" presStyleCnt="0"/>
      <dgm:spPr/>
    </dgm:pt>
    <dgm:pt modelId="{582A57C3-E208-4C4D-8464-8F41E2B621E9}" type="pres">
      <dgm:prSet presAssocID="{63672145-F932-0941-9207-6FD21631945F}" presName="bentUpArrow1" presStyleLbl="alignImgPlace1" presStyleIdx="2" presStyleCnt="5"/>
      <dgm:spPr/>
    </dgm:pt>
    <dgm:pt modelId="{8AD4400A-F79C-8A4B-829B-0D720ED8FB8C}" type="pres">
      <dgm:prSet presAssocID="{63672145-F932-0941-9207-6FD21631945F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83D977E-49FE-154D-8370-6E0B15881094}" type="pres">
      <dgm:prSet presAssocID="{63672145-F932-0941-9207-6FD21631945F}" presName="Child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51D4CC9D-D22F-A045-9B1F-02AFD777BA4F}" type="pres">
      <dgm:prSet presAssocID="{EE4E87B9-A6F7-D040-A8C9-2B94C61F8F15}" presName="sibTrans" presStyleCnt="0"/>
      <dgm:spPr/>
    </dgm:pt>
    <dgm:pt modelId="{9B1BB91C-DFAA-BB42-8883-6C779B3E0CC7}" type="pres">
      <dgm:prSet presAssocID="{180ED30E-9BB7-2945-8E67-38EC3B69034A}" presName="composite" presStyleCnt="0"/>
      <dgm:spPr/>
    </dgm:pt>
    <dgm:pt modelId="{97925E51-E8AA-DC48-BFEB-51206266AB1D}" type="pres">
      <dgm:prSet presAssocID="{180ED30E-9BB7-2945-8E67-38EC3B69034A}" presName="bentUpArrow1" presStyleLbl="alignImgPlace1" presStyleIdx="3" presStyleCnt="5"/>
      <dgm:spPr/>
    </dgm:pt>
    <dgm:pt modelId="{8D80E448-C06F-8440-B08E-C700B7FCCC29}" type="pres">
      <dgm:prSet presAssocID="{180ED30E-9BB7-2945-8E67-38EC3B69034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7F2F534D-82F4-5443-8CF7-5BBA47CF0517}" type="pres">
      <dgm:prSet presAssocID="{180ED30E-9BB7-2945-8E67-38EC3B69034A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CD6671F9-E0CD-EF49-94DC-C96CAC8CC7E3}" type="pres">
      <dgm:prSet presAssocID="{9581D7FD-E2E0-0241-80C7-1BF3EEF3518C}" presName="sibTrans" presStyleCnt="0"/>
      <dgm:spPr/>
    </dgm:pt>
    <dgm:pt modelId="{E13DFC65-0620-5546-9284-95854B643695}" type="pres">
      <dgm:prSet presAssocID="{44352C0E-9228-1D41-9AC7-630454862AAB}" presName="composite" presStyleCnt="0"/>
      <dgm:spPr/>
    </dgm:pt>
    <dgm:pt modelId="{7EA63742-38C6-7343-AA79-52C3D9CCAB0D}" type="pres">
      <dgm:prSet presAssocID="{44352C0E-9228-1D41-9AC7-630454862AAB}" presName="bentUpArrow1" presStyleLbl="alignImgPlace1" presStyleIdx="4" presStyleCnt="5"/>
      <dgm:spPr/>
    </dgm:pt>
    <dgm:pt modelId="{2642E532-D17B-8549-B299-BABD4A6DF310}" type="pres">
      <dgm:prSet presAssocID="{44352C0E-9228-1D41-9AC7-630454862AAB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4D72B732-04CC-5F4B-8E9C-09245727D3B9}" type="pres">
      <dgm:prSet presAssocID="{44352C0E-9228-1D41-9AC7-630454862AAB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6EA532CE-6739-A24B-AAAE-6A1691A35034}" type="pres">
      <dgm:prSet presAssocID="{D2AC5C65-A520-AE49-8D76-EE23E4A07C4A}" presName="sibTrans" presStyleCnt="0"/>
      <dgm:spPr/>
    </dgm:pt>
    <dgm:pt modelId="{658BC9F3-2A00-F547-8C78-511B7194FAEB}" type="pres">
      <dgm:prSet presAssocID="{251E4A29-F563-D34A-A9F7-27833A2BC30D}" presName="composite" presStyleCnt="0"/>
      <dgm:spPr/>
    </dgm:pt>
    <dgm:pt modelId="{9CCCECD5-8ED0-AC43-9710-1DD092099D67}" type="pres">
      <dgm:prSet presAssocID="{251E4A29-F563-D34A-A9F7-27833A2BC30D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  <dgm:pt modelId="{D3853491-2B6C-1449-B71D-8247E1F629BF}" type="pres">
      <dgm:prSet presAssocID="{251E4A29-F563-D34A-A9F7-27833A2BC30D}" presName="Final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69DAFA03-0878-9247-9AF4-F13FE4FF5D9B}" srcId="{63672145-F932-0941-9207-6FD21631945F}" destId="{6469F03D-EC0D-E14C-9147-635163E16719}" srcOrd="0" destOrd="0" parTransId="{31D6F60D-A7D1-C54D-964D-3B8790B82FA4}" sibTransId="{DCECCFCD-FFA0-2B4E-8620-4D260FCCA4E0}"/>
    <dgm:cxn modelId="{1CB6C709-502E-8E44-80CB-B4138F9C85B8}" type="presOf" srcId="{CB6CE777-E645-594F-9F72-31FA50915471}" destId="{13263DF5-F771-E44D-A3A6-7359AB5A694B}" srcOrd="0" destOrd="0" presId="urn:microsoft.com/office/officeart/2005/8/layout/StepDownProcess"/>
    <dgm:cxn modelId="{C4FEA40D-24EF-084F-959C-D30F2BA028D3}" type="presOf" srcId="{26B4761A-8722-154A-9A4E-6B2E8309550C}" destId="{1A27501D-E342-BE40-9448-5C65451E51A0}" srcOrd="0" destOrd="0" presId="urn:microsoft.com/office/officeart/2005/8/layout/StepDownProcess"/>
    <dgm:cxn modelId="{1E415E1F-0CAF-8041-91C0-B6D0D7FA6976}" srcId="{16F9E631-8BA3-154F-A6E6-07CA57FBC2DB}" destId="{E316EBEC-E0B6-BD4E-AD52-3E0E70225984}" srcOrd="0" destOrd="0" parTransId="{EE76EAF1-518C-9B48-86C2-CE4C4196E58C}" sibTransId="{2CDFD06A-C665-0F4C-B72B-48C9DBE0EF22}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9AF40E27-2800-9B4C-8D69-CAB8B8A8A099}" type="presOf" srcId="{251E4A29-F563-D34A-A9F7-27833A2BC30D}" destId="{9CCCECD5-8ED0-AC43-9710-1DD092099D67}" srcOrd="0" destOrd="0" presId="urn:microsoft.com/office/officeart/2005/8/layout/StepDownProcess"/>
    <dgm:cxn modelId="{3038282E-24E0-754A-9BCA-5EB4B0881EBE}" type="presOf" srcId="{16F9E631-8BA3-154F-A6E6-07CA57FBC2DB}" destId="{7176A5BC-3282-044F-8AE1-17BEE6013828}" srcOrd="0" destOrd="0" presId="urn:microsoft.com/office/officeart/2005/8/layout/StepDownProcess"/>
    <dgm:cxn modelId="{7F3F2935-1376-434A-B6E9-CEA12E0D559A}" srcId="{44352C0E-9228-1D41-9AC7-630454862AAB}" destId="{B761BE11-3B98-534C-8389-3D511BB432FF}" srcOrd="0" destOrd="0" parTransId="{53F8C2F9-90C5-F04A-B13E-59A7DBEEB722}" sibTransId="{1CFC13B1-0710-8745-A251-B44B9B630299}"/>
    <dgm:cxn modelId="{112C4A37-BD1F-0D4F-8BDF-AF61C42AA624}" srcId="{92AF2611-4B58-ED43-AC9F-B952F610F406}" destId="{63672145-F932-0941-9207-6FD21631945F}" srcOrd="2" destOrd="0" parTransId="{DA9256D3-306A-2647-A641-4B0B371AA471}" sibTransId="{EE4E87B9-A6F7-D040-A8C9-2B94C61F8F15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23FA6D3C-5F88-8E47-BDA9-BDE6C1BC6D58}" type="presOf" srcId="{712C06CF-58B4-8F4A-A1C3-18737522BAA5}" destId="{7F2F534D-82F4-5443-8CF7-5BBA47CF0517}" srcOrd="0" destOrd="0" presId="urn:microsoft.com/office/officeart/2005/8/layout/StepDownProcess"/>
    <dgm:cxn modelId="{37298341-F999-2344-903C-932ECEBE0F09}" type="presOf" srcId="{05C01FBF-0839-B840-AA40-B5D4B5EF9464}" destId="{D3853491-2B6C-1449-B71D-8247E1F629BF}" srcOrd="0" destOrd="0" presId="urn:microsoft.com/office/officeart/2005/8/layout/StepDownProcess"/>
    <dgm:cxn modelId="{90051663-645C-6042-B826-BF1BEE404513}" type="presOf" srcId="{63672145-F932-0941-9207-6FD21631945F}" destId="{8AD4400A-F79C-8A4B-829B-0D720ED8FB8C}" srcOrd="0" destOrd="0" presId="urn:microsoft.com/office/officeart/2005/8/layout/StepDownProcess"/>
    <dgm:cxn modelId="{016D9485-956C-624D-A592-DDA4E4AA6CC5}" srcId="{92AF2611-4B58-ED43-AC9F-B952F610F406}" destId="{44352C0E-9228-1D41-9AC7-630454862AAB}" srcOrd="4" destOrd="0" parTransId="{BB03014B-614B-4E4D-B179-22BF96D1FDA5}" sibTransId="{D2AC5C65-A520-AE49-8D76-EE23E4A07C4A}"/>
    <dgm:cxn modelId="{E336EE89-5EC2-AE4C-81C9-2EBDE6E482D4}" srcId="{92AF2611-4B58-ED43-AC9F-B952F610F406}" destId="{251E4A29-F563-D34A-A9F7-27833A2BC30D}" srcOrd="5" destOrd="0" parTransId="{B9E7D4BF-66C0-D046-BA68-7E24F4AB0843}" sibTransId="{57ED735E-B5D2-C749-867E-EB96611C0B8B}"/>
    <dgm:cxn modelId="{11A1E58A-ABF6-BE4D-91F0-325BCF38FC72}" type="presOf" srcId="{6469F03D-EC0D-E14C-9147-635163E16719}" destId="{383D977E-49FE-154D-8370-6E0B15881094}" srcOrd="0" destOrd="0" presId="urn:microsoft.com/office/officeart/2005/8/layout/StepDownProcess"/>
    <dgm:cxn modelId="{15010B8E-8FC6-034B-A7AD-F331240F7012}" srcId="{92AF2611-4B58-ED43-AC9F-B952F610F406}" destId="{180ED30E-9BB7-2945-8E67-38EC3B69034A}" srcOrd="3" destOrd="0" parTransId="{CCFA8DD9-517C-4C48-9ACE-EAEC7B4B1D8D}" sibTransId="{9581D7FD-E2E0-0241-80C7-1BF3EEF3518C}"/>
    <dgm:cxn modelId="{5519C99B-9F06-CB49-8B1A-17C9D838D72B}" type="presOf" srcId="{E316EBEC-E0B6-BD4E-AD52-3E0E70225984}" destId="{849E87F9-77C2-E148-A125-B75B32BAE82F}" srcOrd="0" destOrd="0" presId="urn:microsoft.com/office/officeart/2005/8/layout/StepDownProcess"/>
    <dgm:cxn modelId="{570398A5-7B9B-684E-836B-828C67CE95B5}" srcId="{251E4A29-F563-D34A-A9F7-27833A2BC30D}" destId="{05C01FBF-0839-B840-AA40-B5D4B5EF9464}" srcOrd="0" destOrd="0" parTransId="{4292C26E-910E-F242-B4EA-85C15677A931}" sibTransId="{9CE79F6D-8C8B-134E-870B-A3814A161031}"/>
    <dgm:cxn modelId="{552A83B2-FDAE-E143-BB66-928925B322B7}" srcId="{180ED30E-9BB7-2945-8E67-38EC3B69034A}" destId="{712C06CF-58B4-8F4A-A1C3-18737522BAA5}" srcOrd="0" destOrd="0" parTransId="{00A2F76A-F4C8-F042-BC58-5B28B1FEF030}" sibTransId="{F7A6ECC7-ED92-634B-B481-4D7D62B796B5}"/>
    <dgm:cxn modelId="{84262DD1-54DB-8D42-9C16-B543B3BB3374}" srcId="{26B4761A-8722-154A-9A4E-6B2E8309550C}" destId="{CB6CE777-E645-594F-9F72-31FA50915471}" srcOrd="0" destOrd="0" parTransId="{A3FA10DA-B8BC-6B42-A66B-27F9CED77F23}" sibTransId="{F64EEB12-0851-6B4F-BF84-33083DA26F4B}"/>
    <dgm:cxn modelId="{EA665ADD-A5EF-844A-8B63-2D7ECC046504}" type="presOf" srcId="{44352C0E-9228-1D41-9AC7-630454862AAB}" destId="{2642E532-D17B-8549-B299-BABD4A6DF310}" srcOrd="0" destOrd="0" presId="urn:microsoft.com/office/officeart/2005/8/layout/StepDownProcess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634270FB-D54E-9B40-B519-40B9861B65C3}" type="presOf" srcId="{B761BE11-3B98-534C-8389-3D511BB432FF}" destId="{4D72B732-04CC-5F4B-8E9C-09245727D3B9}" srcOrd="0" destOrd="0" presId="urn:microsoft.com/office/officeart/2005/8/layout/StepDownProcess"/>
    <dgm:cxn modelId="{553CD0FD-F2FB-3140-8551-691D85FC1D01}" type="presOf" srcId="{180ED30E-9BB7-2945-8E67-38EC3B69034A}" destId="{8D80E448-C06F-8440-B08E-C700B7FCCC29}" srcOrd="0" destOrd="0" presId="urn:microsoft.com/office/officeart/2005/8/layout/StepDownProcess"/>
    <dgm:cxn modelId="{CAA58818-923B-6242-9847-11CD1A086880}" type="presParOf" srcId="{49E2B0A6-6F15-3D4D-BF88-D0B2483CB55B}" destId="{E975EE4B-D42E-E84D-8A4A-2906A98D9890}" srcOrd="0" destOrd="0" presId="urn:microsoft.com/office/officeart/2005/8/layout/StepDownProcess"/>
    <dgm:cxn modelId="{D0DD2577-622D-2948-8D96-837600176068}" type="presParOf" srcId="{E975EE4B-D42E-E84D-8A4A-2906A98D9890}" destId="{FC8198D2-B811-F543-848D-08253013A363}" srcOrd="0" destOrd="0" presId="urn:microsoft.com/office/officeart/2005/8/layout/StepDownProcess"/>
    <dgm:cxn modelId="{8328243B-B6DB-724C-8C50-F098B7AAF6D6}" type="presParOf" srcId="{E975EE4B-D42E-E84D-8A4A-2906A98D9890}" destId="{1A27501D-E342-BE40-9448-5C65451E51A0}" srcOrd="1" destOrd="0" presId="urn:microsoft.com/office/officeart/2005/8/layout/StepDownProcess"/>
    <dgm:cxn modelId="{A0EEA3E4-28F5-9347-B752-8F465E17DB0E}" type="presParOf" srcId="{E975EE4B-D42E-E84D-8A4A-2906A98D9890}" destId="{13263DF5-F771-E44D-A3A6-7359AB5A694B}" srcOrd="2" destOrd="0" presId="urn:microsoft.com/office/officeart/2005/8/layout/StepDownProcess"/>
    <dgm:cxn modelId="{47F02AFF-9AD0-A041-B89E-95A3ABC44E39}" type="presParOf" srcId="{49E2B0A6-6F15-3D4D-BF88-D0B2483CB55B}" destId="{1405AD88-5681-5740-8B0F-785D5C4C54E3}" srcOrd="1" destOrd="0" presId="urn:microsoft.com/office/officeart/2005/8/layout/StepDownProcess"/>
    <dgm:cxn modelId="{CC26F27A-2F31-7B4F-A3D5-F58113FB0928}" type="presParOf" srcId="{49E2B0A6-6F15-3D4D-BF88-D0B2483CB55B}" destId="{876C9C10-85C7-794D-BECA-7E6B3040BD5B}" srcOrd="2" destOrd="0" presId="urn:microsoft.com/office/officeart/2005/8/layout/StepDownProcess"/>
    <dgm:cxn modelId="{D59FA65B-1A0F-1E47-B691-93027AEC90BA}" type="presParOf" srcId="{876C9C10-85C7-794D-BECA-7E6B3040BD5B}" destId="{7249723C-E4C0-8E4E-9876-FECBD8EB4088}" srcOrd="0" destOrd="0" presId="urn:microsoft.com/office/officeart/2005/8/layout/StepDownProcess"/>
    <dgm:cxn modelId="{51EB45CC-B96D-5D43-AF1B-84E3B2B8AED1}" type="presParOf" srcId="{876C9C10-85C7-794D-BECA-7E6B3040BD5B}" destId="{7176A5BC-3282-044F-8AE1-17BEE6013828}" srcOrd="1" destOrd="0" presId="urn:microsoft.com/office/officeart/2005/8/layout/StepDownProcess"/>
    <dgm:cxn modelId="{5CEB0EC2-0F54-B24C-B1F0-0B003EF1C5A2}" type="presParOf" srcId="{876C9C10-85C7-794D-BECA-7E6B3040BD5B}" destId="{849E87F9-77C2-E148-A125-B75B32BAE82F}" srcOrd="2" destOrd="0" presId="urn:microsoft.com/office/officeart/2005/8/layout/StepDownProcess"/>
    <dgm:cxn modelId="{D6478E3B-05EF-9646-A75F-F4ED66F49E38}" type="presParOf" srcId="{49E2B0A6-6F15-3D4D-BF88-D0B2483CB55B}" destId="{A7334212-A42F-5947-B178-28EE2431D98C}" srcOrd="3" destOrd="0" presId="urn:microsoft.com/office/officeart/2005/8/layout/StepDownProcess"/>
    <dgm:cxn modelId="{23FBC6FD-CDBE-FA4C-8441-E7B27BF05A51}" type="presParOf" srcId="{49E2B0A6-6F15-3D4D-BF88-D0B2483CB55B}" destId="{797595AA-82E7-9A45-818A-CBFC19FC01B4}" srcOrd="4" destOrd="0" presId="urn:microsoft.com/office/officeart/2005/8/layout/StepDownProcess"/>
    <dgm:cxn modelId="{145F56CF-4320-FE4F-8156-055F9762B34B}" type="presParOf" srcId="{797595AA-82E7-9A45-818A-CBFC19FC01B4}" destId="{582A57C3-E208-4C4D-8464-8F41E2B621E9}" srcOrd="0" destOrd="0" presId="urn:microsoft.com/office/officeart/2005/8/layout/StepDownProcess"/>
    <dgm:cxn modelId="{45C34818-F1AF-F649-A01C-A6D8DD6977AD}" type="presParOf" srcId="{797595AA-82E7-9A45-818A-CBFC19FC01B4}" destId="{8AD4400A-F79C-8A4B-829B-0D720ED8FB8C}" srcOrd="1" destOrd="0" presId="urn:microsoft.com/office/officeart/2005/8/layout/StepDownProcess"/>
    <dgm:cxn modelId="{FF01D02D-F3EF-2B41-B125-417E412F83BB}" type="presParOf" srcId="{797595AA-82E7-9A45-818A-CBFC19FC01B4}" destId="{383D977E-49FE-154D-8370-6E0B15881094}" srcOrd="2" destOrd="0" presId="urn:microsoft.com/office/officeart/2005/8/layout/StepDownProcess"/>
    <dgm:cxn modelId="{A608A5D7-E92F-3241-8C20-975A35A4E8FD}" type="presParOf" srcId="{49E2B0A6-6F15-3D4D-BF88-D0B2483CB55B}" destId="{51D4CC9D-D22F-A045-9B1F-02AFD777BA4F}" srcOrd="5" destOrd="0" presId="urn:microsoft.com/office/officeart/2005/8/layout/StepDownProcess"/>
    <dgm:cxn modelId="{B7ED08C4-F562-F343-AE8C-1411DA99F4EB}" type="presParOf" srcId="{49E2B0A6-6F15-3D4D-BF88-D0B2483CB55B}" destId="{9B1BB91C-DFAA-BB42-8883-6C779B3E0CC7}" srcOrd="6" destOrd="0" presId="urn:microsoft.com/office/officeart/2005/8/layout/StepDownProcess"/>
    <dgm:cxn modelId="{A5A50A0E-B79B-C34C-ADC7-C80B5C746A06}" type="presParOf" srcId="{9B1BB91C-DFAA-BB42-8883-6C779B3E0CC7}" destId="{97925E51-E8AA-DC48-BFEB-51206266AB1D}" srcOrd="0" destOrd="0" presId="urn:microsoft.com/office/officeart/2005/8/layout/StepDownProcess"/>
    <dgm:cxn modelId="{7C19BC84-CC29-EF4A-BC81-B1BE7CAADD4B}" type="presParOf" srcId="{9B1BB91C-DFAA-BB42-8883-6C779B3E0CC7}" destId="{8D80E448-C06F-8440-B08E-C700B7FCCC29}" srcOrd="1" destOrd="0" presId="urn:microsoft.com/office/officeart/2005/8/layout/StepDownProcess"/>
    <dgm:cxn modelId="{4C51BF22-07FD-FA4A-B14F-9FA0B702E5DB}" type="presParOf" srcId="{9B1BB91C-DFAA-BB42-8883-6C779B3E0CC7}" destId="{7F2F534D-82F4-5443-8CF7-5BBA47CF0517}" srcOrd="2" destOrd="0" presId="urn:microsoft.com/office/officeart/2005/8/layout/StepDownProcess"/>
    <dgm:cxn modelId="{729F0557-5384-6B4B-86BF-CDDE5C1D202F}" type="presParOf" srcId="{49E2B0A6-6F15-3D4D-BF88-D0B2483CB55B}" destId="{CD6671F9-E0CD-EF49-94DC-C96CAC8CC7E3}" srcOrd="7" destOrd="0" presId="urn:microsoft.com/office/officeart/2005/8/layout/StepDownProcess"/>
    <dgm:cxn modelId="{36E3AD21-65D7-B24C-B4D3-B7520133DB1C}" type="presParOf" srcId="{49E2B0A6-6F15-3D4D-BF88-D0B2483CB55B}" destId="{E13DFC65-0620-5546-9284-95854B643695}" srcOrd="8" destOrd="0" presId="urn:microsoft.com/office/officeart/2005/8/layout/StepDownProcess"/>
    <dgm:cxn modelId="{DD62FE2A-BC28-3E4D-BD4E-F24534EEBE0F}" type="presParOf" srcId="{E13DFC65-0620-5546-9284-95854B643695}" destId="{7EA63742-38C6-7343-AA79-52C3D9CCAB0D}" srcOrd="0" destOrd="0" presId="urn:microsoft.com/office/officeart/2005/8/layout/StepDownProcess"/>
    <dgm:cxn modelId="{75CB6DD7-E609-FF41-BFDA-AA78B1AF772C}" type="presParOf" srcId="{E13DFC65-0620-5546-9284-95854B643695}" destId="{2642E532-D17B-8549-B299-BABD4A6DF310}" srcOrd="1" destOrd="0" presId="urn:microsoft.com/office/officeart/2005/8/layout/StepDownProcess"/>
    <dgm:cxn modelId="{2D895992-0610-7847-8717-588D1860CD72}" type="presParOf" srcId="{E13DFC65-0620-5546-9284-95854B643695}" destId="{4D72B732-04CC-5F4B-8E9C-09245727D3B9}" srcOrd="2" destOrd="0" presId="urn:microsoft.com/office/officeart/2005/8/layout/StepDownProcess"/>
    <dgm:cxn modelId="{317597CB-5F05-5C46-8E98-608B8CB7DEA7}" type="presParOf" srcId="{49E2B0A6-6F15-3D4D-BF88-D0B2483CB55B}" destId="{6EA532CE-6739-A24B-AAAE-6A1691A35034}" srcOrd="9" destOrd="0" presId="urn:microsoft.com/office/officeart/2005/8/layout/StepDownProcess"/>
    <dgm:cxn modelId="{07B25F14-FD1D-C644-863E-76AE9B1DE37A}" type="presParOf" srcId="{49E2B0A6-6F15-3D4D-BF88-D0B2483CB55B}" destId="{658BC9F3-2A00-F547-8C78-511B7194FAEB}" srcOrd="10" destOrd="0" presId="urn:microsoft.com/office/officeart/2005/8/layout/StepDownProcess"/>
    <dgm:cxn modelId="{B023C484-9503-1F4F-8378-A4C3B820ACFA}" type="presParOf" srcId="{658BC9F3-2A00-F547-8C78-511B7194FAEB}" destId="{9CCCECD5-8ED0-AC43-9710-1DD092099D67}" srcOrd="0" destOrd="0" presId="urn:microsoft.com/office/officeart/2005/8/layout/StepDownProcess"/>
    <dgm:cxn modelId="{39951686-C32C-CE4C-B361-5C4E1714F9A2}" type="presParOf" srcId="{658BC9F3-2A00-F547-8C78-511B7194FAEB}" destId="{D3853491-2B6C-1449-B71D-8247E1F629B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595357" y="619409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1454099" y="28376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Abstract Submission</a:t>
          </a:r>
        </a:p>
      </dsp:txBody>
      <dsp:txXfrm>
        <a:off x="1484773" y="59050"/>
        <a:ext cx="836200" cy="566907"/>
      </dsp:txXfrm>
    </dsp:sp>
    <dsp:sp modelId="{13263DF5-F771-E44D-A3A6-7359AB5A694B}">
      <dsp:nvSpPr>
        <dsp:cNvPr id="0" name=""/>
        <dsp:cNvSpPr/>
      </dsp:nvSpPr>
      <dsp:spPr>
        <a:xfrm>
          <a:off x="2351648" y="88295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15th </a:t>
          </a:r>
          <a:r>
            <a:rPr lang="en-US" sz="600" kern="1200">
              <a:solidFill>
                <a:schemeClr val="tx1"/>
              </a:solidFill>
            </a:rPr>
            <a:t>March 2026&gt;</a:t>
          </a:r>
        </a:p>
      </dsp:txBody>
      <dsp:txXfrm>
        <a:off x="2351648" y="88295"/>
        <a:ext cx="652791" cy="507783"/>
      </dsp:txXfrm>
    </dsp:sp>
    <dsp:sp modelId="{7249723C-E4C0-8E4E-9876-FECBD8EB4088}">
      <dsp:nvSpPr>
        <dsp:cNvPr id="0" name=""/>
        <dsp:cNvSpPr/>
      </dsp:nvSpPr>
      <dsp:spPr>
        <a:xfrm rot="5400000">
          <a:off x="2339521" y="1325147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2198262" y="734114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Literature Survey</a:t>
          </a:r>
        </a:p>
      </dsp:txBody>
      <dsp:txXfrm>
        <a:off x="2228936" y="764788"/>
        <a:ext cx="836200" cy="566907"/>
      </dsp:txXfrm>
    </dsp:sp>
    <dsp:sp modelId="{849E87F9-77C2-E148-A125-B75B32BAE82F}">
      <dsp:nvSpPr>
        <dsp:cNvPr id="0" name=""/>
        <dsp:cNvSpPr/>
      </dsp:nvSpPr>
      <dsp:spPr>
        <a:xfrm>
          <a:off x="3095811" y="794033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</a:rPr>
            <a:t>&lt;</a:t>
          </a: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25th</a:t>
          </a:r>
          <a:r>
            <a:rPr lang="en-US" sz="600" kern="1200">
              <a:solidFill>
                <a:schemeClr val="tx1"/>
              </a:solidFill>
            </a:rPr>
            <a:t> March 2026&gt;</a:t>
          </a:r>
        </a:p>
      </dsp:txBody>
      <dsp:txXfrm>
        <a:off x="3095811" y="794033"/>
        <a:ext cx="652791" cy="507783"/>
      </dsp:txXfrm>
    </dsp:sp>
    <dsp:sp modelId="{582A57C3-E208-4C4D-8464-8F41E2B621E9}">
      <dsp:nvSpPr>
        <dsp:cNvPr id="0" name=""/>
        <dsp:cNvSpPr/>
      </dsp:nvSpPr>
      <dsp:spPr>
        <a:xfrm rot="5400000">
          <a:off x="3083684" y="2030885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400A-F79C-8A4B-829B-0D720ED8FB8C}">
      <dsp:nvSpPr>
        <dsp:cNvPr id="0" name=""/>
        <dsp:cNvSpPr/>
      </dsp:nvSpPr>
      <dsp:spPr>
        <a:xfrm>
          <a:off x="2942426" y="1439852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Design [Front End, Back End]</a:t>
          </a:r>
        </a:p>
      </dsp:txBody>
      <dsp:txXfrm>
        <a:off x="2973100" y="1470526"/>
        <a:ext cx="836200" cy="566907"/>
      </dsp:txXfrm>
    </dsp:sp>
    <dsp:sp modelId="{383D977E-49FE-154D-8370-6E0B15881094}">
      <dsp:nvSpPr>
        <dsp:cNvPr id="0" name=""/>
        <dsp:cNvSpPr/>
      </dsp:nvSpPr>
      <dsp:spPr>
        <a:xfrm>
          <a:off x="3839975" y="1499770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</a:rPr>
            <a:t>&lt;</a:t>
          </a: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5th </a:t>
          </a:r>
          <a:r>
            <a:rPr lang="en-US" sz="600" kern="1200">
              <a:solidFill>
                <a:schemeClr val="tx1"/>
              </a:solidFill>
            </a:rPr>
            <a:t>April,2026&gt;</a:t>
          </a:r>
        </a:p>
      </dsp:txBody>
      <dsp:txXfrm>
        <a:off x="3839975" y="1499770"/>
        <a:ext cx="652791" cy="507783"/>
      </dsp:txXfrm>
    </dsp:sp>
    <dsp:sp modelId="{97925E51-E8AA-DC48-BFEB-51206266AB1D}">
      <dsp:nvSpPr>
        <dsp:cNvPr id="0" name=""/>
        <dsp:cNvSpPr/>
      </dsp:nvSpPr>
      <dsp:spPr>
        <a:xfrm rot="5400000">
          <a:off x="3827848" y="2736622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0E448-C06F-8440-B08E-C700B7FCCC29}">
      <dsp:nvSpPr>
        <dsp:cNvPr id="0" name=""/>
        <dsp:cNvSpPr/>
      </dsp:nvSpPr>
      <dsp:spPr>
        <a:xfrm>
          <a:off x="3686589" y="2145590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Implementation</a:t>
          </a:r>
        </a:p>
      </dsp:txBody>
      <dsp:txXfrm>
        <a:off x="3717263" y="2176264"/>
        <a:ext cx="836200" cy="566907"/>
      </dsp:txXfrm>
    </dsp:sp>
    <dsp:sp modelId="{7F2F534D-82F4-5443-8CF7-5BBA47CF0517}">
      <dsp:nvSpPr>
        <dsp:cNvPr id="0" name=""/>
        <dsp:cNvSpPr/>
      </dsp:nvSpPr>
      <dsp:spPr>
        <a:xfrm>
          <a:off x="4584138" y="2205508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</a:rPr>
            <a:t>&lt;</a:t>
          </a: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16th</a:t>
          </a:r>
          <a:r>
            <a:rPr lang="en-US" sz="600" kern="1200">
              <a:solidFill>
                <a:schemeClr val="tx1"/>
              </a:solidFill>
            </a:rPr>
            <a:t> April,2026&gt;</a:t>
          </a:r>
        </a:p>
      </dsp:txBody>
      <dsp:txXfrm>
        <a:off x="4584138" y="2205508"/>
        <a:ext cx="652791" cy="507783"/>
      </dsp:txXfrm>
    </dsp:sp>
    <dsp:sp modelId="{7EA63742-38C6-7343-AA79-52C3D9CCAB0D}">
      <dsp:nvSpPr>
        <dsp:cNvPr id="0" name=""/>
        <dsp:cNvSpPr/>
      </dsp:nvSpPr>
      <dsp:spPr>
        <a:xfrm rot="5400000">
          <a:off x="4572011" y="3442360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2E532-D17B-8549-B299-BABD4A6DF310}">
      <dsp:nvSpPr>
        <dsp:cNvPr id="0" name=""/>
        <dsp:cNvSpPr/>
      </dsp:nvSpPr>
      <dsp:spPr>
        <a:xfrm>
          <a:off x="4430753" y="2851328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Testing</a:t>
          </a:r>
        </a:p>
      </dsp:txBody>
      <dsp:txXfrm>
        <a:off x="4461427" y="2882002"/>
        <a:ext cx="836200" cy="566907"/>
      </dsp:txXfrm>
    </dsp:sp>
    <dsp:sp modelId="{4D72B732-04CC-5F4B-8E9C-09245727D3B9}">
      <dsp:nvSpPr>
        <dsp:cNvPr id="0" name=""/>
        <dsp:cNvSpPr/>
      </dsp:nvSpPr>
      <dsp:spPr>
        <a:xfrm>
          <a:off x="5328302" y="2911246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</a:rPr>
            <a:t>&lt;</a:t>
          </a: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25th </a:t>
          </a:r>
          <a:r>
            <a:rPr lang="en-US" sz="600" kern="1200">
              <a:solidFill>
                <a:schemeClr val="tx1"/>
              </a:solidFill>
            </a:rPr>
            <a:t>April&gt;</a:t>
          </a:r>
        </a:p>
      </dsp:txBody>
      <dsp:txXfrm>
        <a:off x="5328302" y="2911246"/>
        <a:ext cx="652791" cy="507783"/>
      </dsp:txXfrm>
    </dsp:sp>
    <dsp:sp modelId="{9CCCECD5-8ED0-AC43-9710-1DD092099D67}">
      <dsp:nvSpPr>
        <dsp:cNvPr id="0" name=""/>
        <dsp:cNvSpPr/>
      </dsp:nvSpPr>
      <dsp:spPr>
        <a:xfrm>
          <a:off x="5174916" y="3557066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Document Submission</a:t>
          </a:r>
        </a:p>
      </dsp:txBody>
      <dsp:txXfrm>
        <a:off x="5205590" y="3587740"/>
        <a:ext cx="836200" cy="566907"/>
      </dsp:txXfrm>
    </dsp:sp>
    <dsp:sp modelId="{D3853491-2B6C-1449-B71D-8247E1F629BF}">
      <dsp:nvSpPr>
        <dsp:cNvPr id="0" name=""/>
        <dsp:cNvSpPr/>
      </dsp:nvSpPr>
      <dsp:spPr>
        <a:xfrm>
          <a:off x="6072465" y="3616984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solidFill>
                <a:schemeClr val="tx1"/>
              </a:solidFill>
            </a:rPr>
            <a:t>&lt;</a:t>
          </a:r>
          <a:r>
            <a:rPr lang="en-US" sz="1100" kern="1200">
              <a:solidFill>
                <a:schemeClr val="tx1"/>
              </a:solidFill>
            </a:rPr>
            <a:t> </a:t>
          </a:r>
          <a:r>
            <a:rPr lang="en-US" sz="1100" kern="1200">
              <a:solidFill>
                <a:schemeClr val="tx1"/>
              </a:solidFill>
              <a:latin typeface="Helvetica"/>
              <a:cs typeface="Helvetica"/>
            </a:rPr>
            <a:t>by 9th may </a:t>
          </a:r>
          <a:r>
            <a:rPr lang="en-US" sz="1200" kern="1200">
              <a:solidFill>
                <a:schemeClr val="tx1"/>
              </a:solidFill>
            </a:rPr>
            <a:t>&gt;</a:t>
          </a:r>
        </a:p>
      </dsp:txBody>
      <dsp:txXfrm>
        <a:off x="6072465" y="3616984"/>
        <a:ext cx="652791" cy="507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538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int</a:t>
            </a:r>
            <a:r>
              <a:rPr lang="en-US"/>
              <a:t> a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=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5;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int</a:t>
            </a:r>
            <a:r>
              <a:rPr lang="en-US"/>
              <a:t> b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=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3;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if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(</a:t>
            </a:r>
            <a:r>
              <a:rPr lang="en-US"/>
              <a:t>a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&gt;</a:t>
            </a:r>
            <a:r>
              <a:rPr lang="en-US"/>
              <a:t> b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)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{</a:t>
            </a:r>
            <a:r>
              <a:rPr lang="en-US"/>
              <a:t> result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=</a:t>
            </a:r>
            <a:r>
              <a:rPr lang="en-US"/>
              <a:t> a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+</a:t>
            </a:r>
            <a:r>
              <a:rPr lang="en-US"/>
              <a:t> b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;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// ← this always runs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}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else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{</a:t>
            </a:r>
            <a:r>
              <a:rPr lang="en-US"/>
              <a:t> result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=</a:t>
            </a:r>
            <a:r>
              <a:rPr lang="en-US"/>
              <a:t> a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-</a:t>
            </a:r>
            <a:r>
              <a:rPr lang="en-US"/>
              <a:t> b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;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// ← this can NEVER run</a:t>
            </a:r>
            <a:r>
              <a:rPr lang="en-US"/>
              <a:t> </a:t>
            </a:r>
            <a:r>
              <a:rPr lang="en-US" sz="1200">
                <a:effectLst/>
                <a:latin typeface="+mn-lt"/>
                <a:ea typeface="+mn-ea"/>
                <a:cs typeface="+mn-cs"/>
                <a:sym typeface="Arial"/>
              </a:rPr>
              <a:t>}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03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62000" y="990600"/>
            <a:ext cx="7696200" cy="9144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>
                <a:ea typeface="+mn-lt"/>
                <a:cs typeface="+mn-lt"/>
                <a:sym typeface="Times New Roman"/>
              </a:rPr>
              <a:t>Compiler Error Explainer using Pattern-Based Analysis and Adaptive Confidence Scoring</a:t>
            </a:r>
            <a:endParaRPr lang="en-US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pSp>
        <p:nvGrpSpPr>
          <p:cNvPr id="135" name="Group"/>
          <p:cNvGrpSpPr/>
          <p:nvPr/>
        </p:nvGrpSpPr>
        <p:grpSpPr>
          <a:xfrm>
            <a:off x="457200" y="1981200"/>
            <a:ext cx="8097815" cy="3788887"/>
            <a:chOff x="0" y="0"/>
            <a:chExt cx="8097814" cy="3788886"/>
          </a:xfrm>
        </p:grpSpPr>
        <p:sp>
          <p:nvSpPr>
            <p:cNvPr id="133" name="Rectangle"/>
            <p:cNvSpPr/>
            <p:nvPr/>
          </p:nvSpPr>
          <p:spPr>
            <a:xfrm>
              <a:off x="0" y="0"/>
              <a:ext cx="8097814" cy="3788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34" name="Team Members     Group No: 13…"/>
            <p:cNvSpPr txBox="1"/>
            <p:nvPr/>
          </p:nvSpPr>
          <p:spPr>
            <a:xfrm>
              <a:off x="44575" y="0"/>
              <a:ext cx="8008664" cy="35435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t>Team</a:t>
              </a:r>
              <a:r>
                <a:rPr lang="en-IN"/>
                <a:t>_No</a:t>
              </a:r>
              <a:r>
                <a:rPr lang="en-US"/>
                <a:t>: 20</a:t>
              </a:r>
              <a:endParaRPr lang="en-US"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t>Project  Advisor: </a:t>
              </a:r>
              <a:endParaRPr lang="en-IN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 sz="2000" b="1">
                  <a:sym typeface="Arial"/>
                </a:rPr>
                <a:t>Ms. Neera Chaudhary</a:t>
              </a:r>
              <a:r>
                <a:t> </a:t>
              </a:r>
              <a:endParaRPr lang="en-US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/>
                <a:t>Ms. Kavitha C.R. 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</p:grp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3946406722"/>
              </p:ext>
            </p:extLst>
          </p:nvPr>
        </p:nvGraphicFramePr>
        <p:xfrm>
          <a:off x="723901" y="2882106"/>
          <a:ext cx="7983372" cy="151247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BL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.EN.U4CSE</a:t>
                      </a: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23102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Rahul Reddy 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BL.EN.U4CSE23107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IN" sz="14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kshay</a:t>
                      </a: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IN" sz="14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Thammana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B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BL.EN.U4CSE23161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IN" sz="14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antosh</a:t>
                      </a: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Kumar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B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0B835FDA-DC81-4F5C-BEDE-40BF7A20AA2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559904" y="1545201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/>
              <a:t> Definition</a:t>
            </a:r>
            <a:endParaRPr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4" name="Introduction…"/>
          <p:cNvSpPr/>
          <p:nvPr/>
        </p:nvSpPr>
        <p:spPr>
          <a:xfrm>
            <a:off x="1039632" y="2399966"/>
            <a:ext cx="7680961" cy="3221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r>
              <a:rPr lang="en-US" sz="1800"/>
              <a:t>Compiler outputs from tools like GCC or </a:t>
            </a:r>
            <a:r>
              <a:rPr lang="en-US" sz="1800" err="1"/>
              <a:t>javac</a:t>
            </a:r>
            <a:r>
              <a:rPr lang="en-US" sz="1800"/>
              <a:t> are often cryptic and hard for beginners to understand. Messages such as “expected ‘;’ before ‘return’ token” lack context and assume prior knowledge, making students spend more time decoding errors than fixing them. This creates a learning barrier in C, Java, and Compiler Design, as errors typically only show file, line, and column without explaining the cause, violated concept, or solution.</a:t>
            </a:r>
          </a:p>
          <a:p>
            <a:endParaRPr lang="en-IN" sz="1800"/>
          </a:p>
          <a:p>
            <a:r>
              <a:rPr lang="en-IN" sz="1800" b="1"/>
              <a:t>Motivation:</a:t>
            </a:r>
            <a:r>
              <a:rPr lang="en-IN" sz="1800"/>
              <a:t> </a:t>
            </a:r>
            <a:r>
              <a:rPr lang="en-US" sz="1800"/>
              <a:t>Build a post-processor that intercepts GCC/</a:t>
            </a:r>
            <a:r>
              <a:rPr lang="en-US" sz="1800" err="1"/>
              <a:t>javac</a:t>
            </a:r>
            <a:r>
              <a:rPr lang="en-US" sz="1800"/>
              <a:t> output, applies compiler-theory-based pattern matching, and returns human-readable explanations.</a:t>
            </a:r>
          </a:p>
          <a:p>
            <a:pPr>
              <a:spcBef>
                <a:spcPts val="400"/>
              </a:spcBef>
              <a:buClr>
                <a:srgbClr val="6699FF"/>
              </a:buClr>
              <a:buSzPct val="100000"/>
              <a:defRPr sz="2000"/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B9BEA9-0008-0041-E9D1-A8B251954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5214"/>
              </p:ext>
            </p:extLst>
          </p:nvPr>
        </p:nvGraphicFramePr>
        <p:xfrm>
          <a:off x="784311" y="1492250"/>
          <a:ext cx="7724777" cy="399918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704851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93571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21374">
                <a:tc>
                  <a:txBody>
                    <a:bodyPr/>
                    <a:lstStyle/>
                    <a:p>
                      <a:pPr algn="l"/>
                      <a:r>
                        <a:rPr lang="en-IN" sz="1400" err="1">
                          <a:latin typeface="Times New Roman"/>
                          <a:cs typeface="Times New Roman"/>
                        </a:rPr>
                        <a:t>S.No</a:t>
                      </a:r>
                      <a:endParaRPr lang="en-IN" sz="14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Author’s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cs typeface="Times New Roman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187173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Michael Pradel, Koushik Sen</a:t>
                      </a:r>
                      <a:endParaRPr lang="en-US" sz="1100"/>
                    </a:p>
                    <a:p>
                      <a:pPr lvl="0" algn="l">
                        <a:buNone/>
                      </a:pPr>
                      <a:endParaRPr lang="en-IN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000" b="0" i="1" u="none" strike="noStrike" noProof="0" err="1">
                          <a:latin typeface="Arial"/>
                          <a:cs typeface="Arial"/>
                        </a:rPr>
                        <a:t>DeepBugs</a:t>
                      </a:r>
                      <a:r>
                        <a:rPr lang="en-IN" sz="1000" b="0" i="1" u="none" strike="noStrike" noProof="0">
                          <a:latin typeface="Arial"/>
                          <a:cs typeface="Arial"/>
                        </a:rPr>
                        <a:t>: A Learning Approach to Name-Based Bug Detection</a:t>
                      </a:r>
                      <a:r>
                        <a:rPr lang="en-IN" sz="1000" b="0" i="0" u="none" strike="noStrike" noProof="0">
                          <a:latin typeface="Arial"/>
                          <a:cs typeface="Arial"/>
                        </a:rPr>
                        <a:t> (2018)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000" b="0" i="0" u="none" strike="noStrike" noProof="0">
                          <a:latin typeface="Arial"/>
                          <a:cs typeface="Arial"/>
                        </a:rPr>
                        <a:t>Uses machine learning to detect bugs in code by learning patterns from large datasets. Demonstrates that automated systems can understand and detect programming errors.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u="none" strike="noStrike" noProof="0">
                          <a:latin typeface="Arial"/>
                          <a:cs typeface="Arial"/>
                        </a:rPr>
                        <a:t>Focuses on bug detection, not on explaining compiler errors or generating user-friendly explanations for beginners.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743661">
                <a:tc>
                  <a:txBody>
                    <a:bodyPr/>
                    <a:lstStyle/>
                    <a:p>
                      <a:pPr algn="l"/>
                      <a:r>
                        <a:rPr lang="en-IN" sz="100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GCC Team (FSF)</a:t>
                      </a:r>
                      <a:endParaRPr lang="en-IN" sz="1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GCC Internals </a:t>
                      </a:r>
                      <a:r>
                        <a:rPr lang="en-IN" sz="1000" i="1"/>
                        <a:t>Diagnostic Format</a:t>
                      </a:r>
                      <a:r>
                        <a:rPr lang="en-IN" sz="1000"/>
                        <a:t> (2024)</a:t>
                      </a:r>
                      <a:endParaRPr lang="en-IN" sz="1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Defines structured error format: </a:t>
                      </a:r>
                      <a:r>
                        <a:rPr lang="en-US" sz="1000" err="1"/>
                        <a:t>file:line:col:severity:message</a:t>
                      </a:r>
                      <a:r>
                        <a:rPr lang="en-US" sz="1000"/>
                        <a:t>. Enables parsing of compiler output like a </a:t>
                      </a:r>
                      <a:r>
                        <a:rPr lang="en-US" sz="1000" err="1"/>
                        <a:t>lexer</a:t>
                      </a:r>
                      <a:r>
                        <a:rPr lang="en-US" sz="1000"/>
                        <a:t>.</a:t>
                      </a:r>
                      <a:endParaRPr lang="en-IN" sz="1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Provides raw errors but lacks explanation of cause and fix for users.</a:t>
                      </a:r>
                      <a:endParaRPr lang="en-IN" sz="10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45182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61B4-EE30-5FF6-4D78-D8B939D3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ACD3B7C6-91D2-E867-B3A2-11A9DD8ED12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B79EF5FE-08BE-C875-16A2-D3DC29AA45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0E5752-A607-4B27-109F-570D8E444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5631"/>
              </p:ext>
            </p:extLst>
          </p:nvPr>
        </p:nvGraphicFramePr>
        <p:xfrm>
          <a:off x="784311" y="1492250"/>
          <a:ext cx="7724777" cy="399918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704851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93571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21374">
                <a:tc>
                  <a:txBody>
                    <a:bodyPr/>
                    <a:lstStyle/>
                    <a:p>
                      <a:pPr algn="l"/>
                      <a:r>
                        <a:rPr lang="en-IN" sz="1400" b="0" err="1">
                          <a:latin typeface="Times New Roman"/>
                          <a:cs typeface="Times New Roman"/>
                        </a:rPr>
                        <a:t>S.No</a:t>
                      </a:r>
                      <a:endParaRPr lang="en-IN" sz="14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Author’s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>
                          <a:latin typeface="Times New Roman"/>
                          <a:cs typeface="Times New Roman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187173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latin typeface="Times New Roman"/>
                          <a:cs typeface="Times New Roman"/>
                        </a:rPr>
                        <a:t>3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/>
                        <a:t>Andrew Taylor et al.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i="1" err="1"/>
                        <a:t>Dcc</a:t>
                      </a:r>
                      <a:r>
                        <a:rPr lang="en-US" sz="1000" i="1"/>
                        <a:t> --help: Generating Context-Aware Compiler Error Explanations with LLMs</a:t>
                      </a:r>
                      <a:r>
                        <a:rPr lang="en-US" sz="1000"/>
                        <a:t> (2023)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Uses LLMs to generate beginner-friendly explanations for compiler errors using context like code, error message, and location. Achieves high accuracy (~90%) in explanations.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Relies heavily on LLMs and may generate incorrect or inconsistent explanations. Does not use structured pattern-based approach or confidence scoring.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  <a:tr h="1743661"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latin typeface="Times New Roman"/>
                          <a:cs typeface="Times New Roman"/>
                        </a:rPr>
                        <a:t>4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lang="en-IN" sz="1000"/>
                        <a:t>LVM Project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i="1"/>
                        <a:t>Clang Diagnostics Design</a:t>
                      </a:r>
                      <a:r>
                        <a:rPr lang="en-IN" sz="1000"/>
                        <a:t> (2023)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Emphasizes better diagnostics with context, hints, and suggestions. Introduces idea of improving developer experience.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Advanced diagnostics exist but are not beginner-friendly or adaptive.</a:t>
                      </a:r>
                      <a:endParaRPr lang="en-IN" sz="1000" b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451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5927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04A8-335A-BAE5-FC6A-99985EC1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DBD97649-E21E-76D3-9850-01DC7B1B4A6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C240CB9F-BEBF-2A24-0852-42D501928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FDC100-C917-1126-B70C-DBD3290CA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24788"/>
              </p:ext>
            </p:extLst>
          </p:nvPr>
        </p:nvGraphicFramePr>
        <p:xfrm>
          <a:off x="784311" y="1660626"/>
          <a:ext cx="7724777" cy="30022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704851">
                  <a:extLst>
                    <a:ext uri="{9D8B030D-6E8A-4147-A177-3AD203B41FA5}">
                      <a16:colId xmlns:a16="http://schemas.microsoft.com/office/drawing/2014/main" val="373898534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03536762"/>
                    </a:ext>
                  </a:extLst>
                </a:gridCol>
                <a:gridCol w="1893571">
                  <a:extLst>
                    <a:ext uri="{9D8B030D-6E8A-4147-A177-3AD203B41FA5}">
                      <a16:colId xmlns:a16="http://schemas.microsoft.com/office/drawing/2014/main" val="2570879095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979042068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14196244"/>
                    </a:ext>
                  </a:extLst>
                </a:gridCol>
              </a:tblGrid>
              <a:tr h="726853">
                <a:tc>
                  <a:txBody>
                    <a:bodyPr/>
                    <a:lstStyle/>
                    <a:p>
                      <a:pPr algn="ctr"/>
                      <a:r>
                        <a:rPr lang="en-IN" sz="1600" err="1">
                          <a:latin typeface="Times New Roman"/>
                          <a:cs typeface="Times New Roman"/>
                        </a:rPr>
                        <a:t>S.No</a:t>
                      </a:r>
                      <a:endParaRPr lang="en-IN" sz="16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/>
                          <a:cs typeface="Times New Roman"/>
                        </a:rPr>
                        <a:t>Author’s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/>
                          <a:cs typeface="Times New Roman"/>
                        </a:rPr>
                        <a:t>Inference from the paper (based on methodology, technology)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/>
                          <a:cs typeface="Times New Roman"/>
                        </a:rPr>
                        <a:t>Open problem (for your proposed work)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7501868"/>
                  </a:ext>
                </a:extLst>
              </a:tr>
              <a:tr h="1497439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Brett A. Becker et al</a:t>
                      </a:r>
                      <a:r>
                        <a:rPr lang="en-IN"/>
                        <a:t>.</a:t>
                      </a:r>
                      <a:endParaRPr lang="en-US"/>
                    </a:p>
                    <a:p>
                      <a:pPr lvl="0" algn="l">
                        <a:buNone/>
                      </a:pPr>
                      <a:endParaRPr lang="en-IN" sz="105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1050" b="0" i="0" u="none" strike="noStrike" noProof="0">
                          <a:latin typeface="Arial"/>
                          <a:cs typeface="Arial"/>
                        </a:rPr>
                        <a:t>Compiler Error Messages Considered Unhelpful (2019)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50" b="0" i="0" u="none" strike="noStrike" noProof="0">
                          <a:latin typeface="Arial"/>
                          <a:cs typeface="Arial"/>
                        </a:rPr>
                        <a:t>Studies which compiler error messages are most helpful for students and how clarity impacts debugging and learning. Highlights importance of understandable error messages.</a:t>
                      </a:r>
                      <a:r>
                        <a:rPr lang="en-US" sz="1050"/>
                        <a:t>.</a:t>
                      </a:r>
                      <a:endParaRPr lang="en-IN" sz="105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50" b="0" i="0" u="none" strike="noStrike" noProof="0">
                          <a:latin typeface="Arial"/>
                          <a:cs typeface="Arial"/>
                        </a:rPr>
                        <a:t>Focuses on analysis of usefulness, not on building a system to automatically translate or improve error messages.</a:t>
                      </a:r>
                      <a:endParaRPr lang="en-US" b="0" i="0" u="none" strike="noStrike" noProof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329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19086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06097"/>
            <a:ext cx="7315200" cy="887641"/>
          </a:xfrm>
        </p:spPr>
        <p:txBody>
          <a:bodyPr/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Requirements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220686"/>
            <a:ext cx="7968343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Frontend: </a:t>
            </a:r>
            <a:r>
              <a:rPr lang="en-IN" sz="1800"/>
              <a:t>HTML and CSS for a responsive UI, along with JavaScript to handle AJAX calls to the endpoint. A code editor text area with a monospace font, a language selector (C/Java toggle), and colour-coded output display (green for success, red for errors).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Backend: </a:t>
            </a:r>
            <a:r>
              <a:rPr lang="en-IN" sz="1800"/>
              <a:t>Flask 2.x for building a REST API with a endpoint. Ability to receive JSON input, write temporary source files, execute compiler scripts, and return JSON output.</a:t>
            </a:r>
            <a:endParaRPr lang="en-US" sz="180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8</a:t>
            </a:r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EEACF9-4920-15A9-5AA4-10E0B913E1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654" y="1225276"/>
            <a:ext cx="4222531" cy="49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9</a:t>
            </a: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226600" y="381000"/>
            <a:ext cx="2690799" cy="584773"/>
          </a:xfrm>
          <a:prstGeom prst="rect">
            <a:avLst/>
          </a:prstGeom>
          <a:noFill/>
          <a:ln w="12700" cap="flat">
            <a:noFill/>
          </a:ln>
        </p:spPr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kumimoji="0" lang="en-IN" sz="3200" b="0" i="0" u="none" strike="noStrike" cap="none" spc="0" normalizeH="0" baseline="0">
                <a:solidFill>
                  <a:srgbClr val="000000"/>
                </a:solidFill>
                <a:latin typeface="Times New Roman"/>
                <a:cs typeface="Times New Roman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B6945-384D-C850-8AA6-CA491EC529B4}"/>
              </a:ext>
            </a:extLst>
          </p:cNvPr>
          <p:cNvSpPr txBox="1"/>
          <p:nvPr/>
        </p:nvSpPr>
        <p:spPr>
          <a:xfrm>
            <a:off x="1109272" y="1289154"/>
            <a:ext cx="7075357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/>
              <a:t>Compiler-Inspired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Built a </a:t>
            </a:r>
            <a:r>
              <a:rPr lang="en-US" b="1"/>
              <a:t>post-processing compiler pipeline</a:t>
            </a:r>
            <a:r>
              <a:rPr lang="en-US"/>
              <a:t> that translates raw GCC/</a:t>
            </a:r>
            <a:r>
              <a:rPr lang="en-US" err="1"/>
              <a:t>javac</a:t>
            </a:r>
            <a:r>
              <a:rPr lang="en-US"/>
              <a:t> errors into human-readable explanations.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99127-AD0F-283C-3B6D-5BB9E93AEA94}"/>
              </a:ext>
            </a:extLst>
          </p:cNvPr>
          <p:cNvSpPr txBox="1"/>
          <p:nvPr/>
        </p:nvSpPr>
        <p:spPr>
          <a:xfrm>
            <a:off x="728539" y="2203467"/>
            <a:ext cx="145404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b="1"/>
              <a:t>Core Stages</a:t>
            </a:r>
            <a:endParaRPr kumimoji="0" lang="en-IN" sz="1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5BA05-CE96-5258-0748-5DC4DD20C47E}"/>
              </a:ext>
            </a:extLst>
          </p:cNvPr>
          <p:cNvSpPr txBox="1"/>
          <p:nvPr/>
        </p:nvSpPr>
        <p:spPr>
          <a:xfrm>
            <a:off x="616410" y="2471871"/>
            <a:ext cx="3695075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IN" b="1"/>
              <a:t>1. Frontend Processing</a:t>
            </a:r>
          </a:p>
          <a:p>
            <a:pPr algn="just"/>
            <a:r>
              <a:rPr lang="en-IN" b="1"/>
              <a:t>Lexer </a:t>
            </a:r>
            <a:r>
              <a:rPr lang="en-US"/>
              <a:t>Captures raw compiler stderr output using subprocess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Uses regex-based parsing (</a:t>
            </a:r>
            <a:r>
              <a:rPr lang="en-IN" err="1"/>
              <a:t>parse_gcc_errors</a:t>
            </a:r>
            <a:r>
              <a:rPr lang="en-IN"/>
              <a:t>(), </a:t>
            </a:r>
            <a:r>
              <a:rPr lang="en-IN" err="1"/>
              <a:t>parse_javac_errors</a:t>
            </a:r>
            <a:r>
              <a:rPr lang="en-IN"/>
              <a:t>())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Converts error text into structured tokens:</a:t>
            </a:r>
            <a:br>
              <a:rPr lang="en-US"/>
            </a:br>
            <a:r>
              <a:rPr lang="en-US"/>
              <a:t>{file, line, column, severity, message}</a:t>
            </a: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A41B6-7A64-B68F-ED3F-4230855C6188}"/>
              </a:ext>
            </a:extLst>
          </p:cNvPr>
          <p:cNvSpPr txBox="1"/>
          <p:nvPr/>
        </p:nvSpPr>
        <p:spPr>
          <a:xfrm>
            <a:off x="617027" y="4206420"/>
            <a:ext cx="4260987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IN" b="1"/>
              <a:t>2. Intermediate Representation</a:t>
            </a:r>
          </a:p>
          <a:p>
            <a:pPr algn="just"/>
            <a:r>
              <a:rPr lang="en-IN" b="1"/>
              <a:t>Structured Error Representation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Converts r</a:t>
            </a:r>
            <a:r>
              <a:rPr lang="en-US"/>
              <a:t>aw error text → structured JSON-like records</a:t>
            </a:r>
            <a:endParaRPr lang="en-I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Acts as an intermediate representation similar to compiler IR</a:t>
            </a:r>
            <a:r>
              <a:rPr lang="en-IN"/>
              <a:t>	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Standardizes error format for further processing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3A2AD-9E99-12F1-FE03-D73DC22ECA3B}"/>
              </a:ext>
            </a:extLst>
          </p:cNvPr>
          <p:cNvSpPr txBox="1"/>
          <p:nvPr/>
        </p:nvSpPr>
        <p:spPr>
          <a:xfrm>
            <a:off x="5083070" y="3134513"/>
            <a:ext cx="3695075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US" b="1"/>
              <a:t>3. </a:t>
            </a:r>
            <a:r>
              <a:rPr lang="en-IN" b="1"/>
              <a:t>Pattern Matching &amp; Parsing</a:t>
            </a:r>
          </a:p>
          <a:p>
            <a:pPr algn="just"/>
            <a:r>
              <a:rPr lang="en-IN" b="1"/>
              <a:t>Regex-Based Syntax Analysis</a:t>
            </a:r>
            <a:endParaRPr 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Matches error messages using 60+ predefined regex patterns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Each pattern acts like a grammar rule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Extracts meaningful components using capture groups</a:t>
            </a: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31712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10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226600" y="381000"/>
            <a:ext cx="269079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03F28-379C-F866-4EB4-EE5D7A0A1931}"/>
              </a:ext>
            </a:extLst>
          </p:cNvPr>
          <p:cNvSpPr txBox="1"/>
          <p:nvPr/>
        </p:nvSpPr>
        <p:spPr>
          <a:xfrm>
            <a:off x="779488" y="1424703"/>
            <a:ext cx="145404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b="1"/>
              <a:t>Core Stages</a:t>
            </a:r>
            <a:endParaRPr kumimoji="0" lang="en-IN" sz="1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65905-716F-FD5E-DD75-DBE75ABC83E6}"/>
              </a:ext>
            </a:extLst>
          </p:cNvPr>
          <p:cNvSpPr txBox="1"/>
          <p:nvPr/>
        </p:nvSpPr>
        <p:spPr>
          <a:xfrm>
            <a:off x="614596" y="1678899"/>
            <a:ext cx="3695075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IN" b="1"/>
              <a:t>4. Semantic Analysis</a:t>
            </a:r>
          </a:p>
          <a:p>
            <a:pPr algn="just"/>
            <a:r>
              <a:rPr lang="en-IN" b="1"/>
              <a:t>Error Classification &amp; Explanation</a:t>
            </a:r>
          </a:p>
          <a:p>
            <a:r>
              <a:rPr lang="en-IN"/>
              <a:t>Classifies errors into categories:</a:t>
            </a:r>
          </a:p>
          <a:p>
            <a:r>
              <a:rPr lang="en-IN" err="1"/>
              <a:t>syntax_error</a:t>
            </a:r>
            <a:r>
              <a:rPr lang="en-IN"/>
              <a:t> </a:t>
            </a:r>
          </a:p>
          <a:p>
            <a:r>
              <a:rPr lang="en-IN" err="1"/>
              <a:t>type_error</a:t>
            </a:r>
            <a:r>
              <a:rPr lang="en-IN"/>
              <a:t> </a:t>
            </a:r>
          </a:p>
          <a:p>
            <a:r>
              <a:rPr lang="en-IN" err="1"/>
              <a:t>undeclared_identifier</a:t>
            </a:r>
            <a:r>
              <a:rPr lang="en-IN"/>
              <a:t> </a:t>
            </a:r>
          </a:p>
          <a:p>
            <a:r>
              <a:rPr lang="en-IN" err="1"/>
              <a:t>function_call_error</a:t>
            </a:r>
            <a:endParaRPr lang="en-I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Maps matched patterns to human-readable explanations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Uses template substitution (</a:t>
            </a:r>
            <a:r>
              <a:rPr lang="en-IN" err="1"/>
              <a:t>str.format</a:t>
            </a:r>
            <a:r>
              <a:rPr lang="en-IN"/>
              <a:t>) to generate final message</a:t>
            </a:r>
          </a:p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CFC3D-A070-3C11-DF30-57A4918C23EF}"/>
              </a:ext>
            </a:extLst>
          </p:cNvPr>
          <p:cNvSpPr txBox="1"/>
          <p:nvPr/>
        </p:nvSpPr>
        <p:spPr>
          <a:xfrm>
            <a:off x="876926" y="4123337"/>
            <a:ext cx="5470711" cy="1169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endParaRPr lang="en-IN" b="1"/>
          </a:p>
          <a:p>
            <a:pPr algn="just"/>
            <a:endParaRPr lang="en-IN" b="1"/>
          </a:p>
          <a:p>
            <a:pPr algn="just"/>
            <a:endParaRPr lang="en-IN" b="1"/>
          </a:p>
          <a:p>
            <a:pPr algn="just"/>
            <a:endParaRPr lang="en-IN" b="1"/>
          </a:p>
          <a:p>
            <a:pPr algn="just"/>
            <a:endParaRPr lang="en-I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9D48D-9688-13FE-B70B-DA6F2D093B29}"/>
              </a:ext>
            </a:extLst>
          </p:cNvPr>
          <p:cNvSpPr txBox="1"/>
          <p:nvPr/>
        </p:nvSpPr>
        <p:spPr>
          <a:xfrm>
            <a:off x="783863" y="4124001"/>
            <a:ext cx="3695075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US" b="1"/>
              <a:t>5. </a:t>
            </a:r>
            <a:r>
              <a:rPr lang="en-IN" b="1"/>
              <a:t>Output Generation</a:t>
            </a:r>
          </a:p>
          <a:p>
            <a:pPr algn="just"/>
            <a:r>
              <a:rPr lang="en-IN" b="1"/>
              <a:t>User-Friendly Error Display</a:t>
            </a:r>
            <a:endParaRPr lang="en-US" b="1"/>
          </a:p>
          <a:p>
            <a:r>
              <a:rPr lang="en-US"/>
              <a:t>Formats final output with:</a:t>
            </a:r>
          </a:p>
          <a:p>
            <a:r>
              <a:rPr lang="en-US"/>
              <a:t>	Line &amp; column info </a:t>
            </a:r>
          </a:p>
          <a:p>
            <a:r>
              <a:rPr lang="en-US"/>
              <a:t>	Clear explanation </a:t>
            </a:r>
          </a:p>
          <a:p>
            <a:r>
              <a:rPr lang="en-US"/>
              <a:t>	Suggested fix guidance </a:t>
            </a:r>
          </a:p>
          <a:p>
            <a:r>
              <a:rPr lang="en-US"/>
              <a:t>	Confidence score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Output available via: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CLI tool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/>
              <a:t>Flask web interface</a:t>
            </a:r>
            <a:endParaRPr lang="en-US"/>
          </a:p>
        </p:txBody>
      </p:sp>
      <p:pic>
        <p:nvPicPr>
          <p:cNvPr id="8" name="Picture 7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9B7FB071-056D-596F-1A86-1FCB5209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73" y="2174364"/>
            <a:ext cx="3851452" cy="282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778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11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910281" y="381000"/>
            <a:ext cx="132343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A8D99-DFC0-4C4C-3F2C-D7CE2BC87590}"/>
              </a:ext>
            </a:extLst>
          </p:cNvPr>
          <p:cNvSpPr txBox="1"/>
          <p:nvPr/>
        </p:nvSpPr>
        <p:spPr>
          <a:xfrm>
            <a:off x="729631" y="1416340"/>
            <a:ext cx="409981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0961F906-AB8B-043F-20DE-8A55F206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86719"/>
            <a:ext cx="9154070" cy="471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4197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12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85469-F1C2-9022-0CB4-D25C5AE53C4D}"/>
              </a:ext>
            </a:extLst>
          </p:cNvPr>
          <p:cNvSpPr txBox="1"/>
          <p:nvPr/>
        </p:nvSpPr>
        <p:spPr>
          <a:xfrm>
            <a:off x="1041816" y="1446551"/>
            <a:ext cx="409981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E9715-CF61-CEB2-4154-57B7789445AD}"/>
              </a:ext>
            </a:extLst>
          </p:cNvPr>
          <p:cNvSpPr txBox="1"/>
          <p:nvPr/>
        </p:nvSpPr>
        <p:spPr>
          <a:xfrm>
            <a:off x="3910281" y="381000"/>
            <a:ext cx="132343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A10EF2-BB43-186F-E4C7-51969B64D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02" y="2246995"/>
            <a:ext cx="8318220" cy="21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156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EFFA-D695-D083-5324-F3B733BB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7CDB666C-F116-9DE7-918C-B09D244699F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r>
              <a:rPr lang="en-US"/>
              <a:t>13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E3FF3-3A90-F1C4-5EC8-6EBE3F45D2FA}"/>
              </a:ext>
            </a:extLst>
          </p:cNvPr>
          <p:cNvSpPr txBox="1"/>
          <p:nvPr/>
        </p:nvSpPr>
        <p:spPr>
          <a:xfrm>
            <a:off x="3707165" y="369335"/>
            <a:ext cx="1323437" cy="1077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sz="3200"/>
              <a:t>Testing</a:t>
            </a:r>
            <a:endParaRPr lang="en-IN" sz="320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F8690-6028-D090-5462-4B27A7DFDB2C}"/>
              </a:ext>
            </a:extLst>
          </p:cNvPr>
          <p:cNvSpPr txBox="1"/>
          <p:nvPr/>
        </p:nvSpPr>
        <p:spPr>
          <a:xfrm>
            <a:off x="1041816" y="1446551"/>
            <a:ext cx="4099810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FE45FA-8D53-DD08-D713-46965C345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086"/>
            <a:ext cx="9144000" cy="46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7703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6E9-382B-B84C-AAC3-46A960F0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71" y="184671"/>
            <a:ext cx="8229600" cy="740439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  <a:sym typeface="Times New Roman"/>
              </a:rPr>
              <a:t>Timeline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8344333"/>
              </p:ext>
            </p:extLst>
          </p:nvPr>
        </p:nvGraphicFramePr>
        <p:xfrm>
          <a:off x="662861" y="1540175"/>
          <a:ext cx="8179357" cy="4213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CD9C-967E-6147-9271-D86550BAFC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61769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139"/>
            <a:ext cx="8229600" cy="1005206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</a:rPr>
              <a:t>Conclusion </a:t>
            </a:r>
            <a:endParaRPr lang="en-IN"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146E2-AECC-35B1-218D-BD203463DD9F}"/>
              </a:ext>
            </a:extLst>
          </p:cNvPr>
          <p:cNvSpPr txBox="1"/>
          <p:nvPr/>
        </p:nvSpPr>
        <p:spPr>
          <a:xfrm>
            <a:off x="640447" y="1649836"/>
            <a:ext cx="8671504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Developed a </a:t>
            </a:r>
            <a:r>
              <a:rPr lang="en-US" sz="1800" b="1"/>
              <a:t>compiler-inspired post-processing system</a:t>
            </a:r>
            <a:r>
              <a:rPr lang="en-US" sz="1800"/>
              <a:t> that converts</a:t>
            </a:r>
            <a:endParaRPr lang="en-IN" sz="1800"/>
          </a:p>
          <a:p>
            <a:pPr algn="just"/>
            <a:r>
              <a:rPr lang="en-US" sz="1800"/>
              <a:t> cryptic   GCC/</a:t>
            </a:r>
            <a:r>
              <a:rPr lang="en-US" sz="1800" err="1"/>
              <a:t>javac</a:t>
            </a:r>
            <a:r>
              <a:rPr lang="en-US" sz="1800"/>
              <a:t> errors into user-friendly explanations</a:t>
            </a:r>
            <a:endParaRPr lang="en-IN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Successfully transforms source code into: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Structured error tokens (</a:t>
            </a:r>
            <a:r>
              <a:rPr lang="en-US" sz="1800" err="1"/>
              <a:t>lexer</a:t>
            </a:r>
            <a:r>
              <a:rPr lang="en-US" sz="1800"/>
              <a:t> stage)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Pattern-matched representations (parser stage)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Human-readable explanations (semantic stage)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Applies data flow analysis techniques: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Lexical Analysis → parsing stderr into tokens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Syntax Analysis → regex-based pattern matching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Semantic Analysis → error classification &amp; explanation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Optimization → adaptive confidence scoring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Accurately identifies: </a:t>
            </a:r>
          </a:p>
          <a:p>
            <a:pPr lvl="1" algn="just"/>
            <a:r>
              <a:rPr lang="en-US" sz="1800"/>
              <a:t>100% translation rate for C errors</a:t>
            </a:r>
          </a:p>
          <a:p>
            <a:pPr lvl="1" algn="just"/>
            <a:r>
              <a:rPr lang="en-US" sz="1800"/>
              <a:t>~97% accuracy for Java errors</a:t>
            </a:r>
            <a:endParaRPr lang="en-IN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/>
              <a:t>Provides: </a:t>
            </a:r>
          </a:p>
          <a:p>
            <a:pPr lvl="1" algn="just"/>
            <a:r>
              <a:rPr lang="en-US" sz="1800"/>
              <a:t>CLI-based tool for direct usage</a:t>
            </a:r>
            <a:endParaRPr kumimoji="0" lang="en-IN" sz="14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8909-40F1-3983-A494-21BDB1D1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0C2A-F1F6-EA40-92EB-61AE302F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139"/>
            <a:ext cx="8229600" cy="1005206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</a:rPr>
              <a:t>Future Enhancements </a:t>
            </a:r>
            <a:endParaRPr lang="en-IN"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473F84-B9DB-6C4D-B239-0D1B1D7BF61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15</a:t>
            </a:fld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B6570E1-6A2A-6F5E-9214-65766434F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88" y="1567328"/>
            <a:ext cx="776622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AI (OpenAI/Anthropic) to explain unknown errors and expand coverage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Self-Learning System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 and update regex patterns from new errors → adaptive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 Integration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 extension for real-time friendly error explanations and highlights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beyond C &amp; Java → Python, Rust, Clang diagnostics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 Suggestions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automatic corrected code snippets along with explanations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common errors across users to help students and instructors </a:t>
            </a:r>
          </a:p>
        </p:txBody>
      </p:sp>
    </p:spTree>
    <p:extLst>
      <p:ext uri="{BB962C8B-B14F-4D97-AF65-F5344CB8AC3E}">
        <p14:creationId xmlns:p14="http://schemas.microsoft.com/office/powerpoint/2010/main" val="235479237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16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865E0F-1F95-414F-825F-3F469187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136650"/>
            <a:ext cx="8229600" cy="1004888"/>
          </a:xfrm>
        </p:spPr>
        <p:txBody>
          <a:bodyPr/>
          <a:lstStyle/>
          <a:p>
            <a:r>
              <a:rPr lang="en-IN"/>
              <a:t>Contribution of the Team Members</a:t>
            </a:r>
          </a:p>
        </p:txBody>
      </p:sp>
      <p:graphicFrame>
        <p:nvGraphicFramePr>
          <p:cNvPr id="2" name="Table">
            <a:extLst>
              <a:ext uri="{FF2B5EF4-FFF2-40B4-BE49-F238E27FC236}">
                <a16:creationId xmlns:a16="http://schemas.microsoft.com/office/drawing/2014/main" id="{7BD0AF07-8BD8-9012-ACC1-C5B9E6968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7205390"/>
              </p:ext>
            </p:extLst>
          </p:nvPr>
        </p:nvGraphicFramePr>
        <p:xfrm>
          <a:off x="723901" y="2882106"/>
          <a:ext cx="7983372" cy="213753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3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3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</a:t>
                      </a:r>
                      <a:endParaRPr sz="16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BL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.EN.U4CSE</a:t>
                      </a: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23102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Rahul Reddy</a:t>
                      </a:r>
                      <a:endParaRPr lang="en-IN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/>
                        <a:t>L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exer, pattern engine, Flask API, Java support, Frontend </a:t>
                      </a:r>
                      <a:r>
                        <a:rPr lang="en-US" sz="1400" b="0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ui</a:t>
                      </a:r>
                      <a:br>
                        <a:rPr lang="en-US" sz="1400">
                          <a:solidFill>
                            <a:srgbClr val="FF0000"/>
                          </a:solidFill>
                        </a:rPr>
                      </a:br>
                      <a:endParaRPr lang="en-IN" sz="1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U4CSE23107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Akshay </a:t>
                      </a:r>
                      <a:r>
                        <a:rPr lang="en-US" sz="1400" err="1">
                          <a:latin typeface="Times New Roman"/>
                          <a:ea typeface="Times New Roman"/>
                          <a:cs typeface="Times New Roman"/>
                        </a:rPr>
                        <a:t>Thammana</a:t>
                      </a:r>
                      <a:endParaRPr lang="en-US" sz="1400" err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spc="0" baseline="0" noProof="0">
                          <a:solidFill>
                            <a:schemeClr val="tx1"/>
                          </a:solidFill>
                          <a:uFillTx/>
                          <a:latin typeface="Arial"/>
                          <a:cs typeface="Arial"/>
                        </a:rPr>
                        <a:t>Literature survey, architecture design, pattern research, Confidence system</a:t>
                      </a:r>
                      <a:endParaRPr lang="en-US" sz="1400" b="0" i="0" u="none" strike="noStrike" cap="none" spc="0" baseline="0" noProof="0">
                        <a:solidFill>
                          <a:schemeClr val="tx1"/>
                        </a:solidFill>
                        <a:uFillTx/>
                        <a:sym typeface="Arial"/>
                      </a:endParaRPr>
                    </a:p>
                    <a:p>
                      <a:pPr algn="l">
                        <a:defRPr sz="1800"/>
                      </a:pPr>
                      <a:endParaRPr sz="1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U4CSE23161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Santosh Kumar</a:t>
                      </a:r>
                      <a:endParaRPr lang="en-IN"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/>
                        <a:t>Test suite, results analysis, documentation, </a:t>
                      </a:r>
                      <a:br>
                        <a:rPr lang="en-US" sz="1400">
                          <a:solidFill>
                            <a:srgbClr val="FF0000"/>
                          </a:solidFill>
                        </a:rPr>
                      </a:br>
                      <a:endParaRPr lang="en-US" sz="1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57707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121" y="276619"/>
            <a:ext cx="8229600" cy="790950"/>
          </a:xfrm>
        </p:spPr>
        <p:txBody>
          <a:bodyPr lIns="45719" tIns="45720" rIns="45719" bIns="45720" anchor="ctr"/>
          <a:lstStyle/>
          <a:p>
            <a:r>
              <a:rPr lang="en-US">
                <a:latin typeface="Times New Roman"/>
                <a:cs typeface="Times New Roman"/>
              </a:rPr>
              <a:t>References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18E60-DFC9-00F5-0858-78F5F019ADF0}"/>
              </a:ext>
            </a:extLst>
          </p:cNvPr>
          <p:cNvSpPr txBox="1"/>
          <p:nvPr/>
        </p:nvSpPr>
        <p:spPr>
          <a:xfrm>
            <a:off x="568305" y="1559335"/>
            <a:ext cx="8211668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i="1"/>
              <a:t>1}</a:t>
            </a:r>
            <a:r>
              <a:rPr lang="en-US" sz="1800" i="1" err="1"/>
              <a:t>Altalhi</a:t>
            </a:r>
            <a:r>
              <a:rPr lang="en-US" sz="1800" i="1"/>
              <a:t>, Saeed Musaad, et al. "Error Classification and Static Detection Methods in Tri-Programming Models: MPI, OpenMP, and CUDA." Computers 14.5 (2025): 164.</a:t>
            </a:r>
          </a:p>
          <a:p>
            <a:r>
              <a:rPr lang="en-US" sz="1800" i="1"/>
              <a:t>2}Taylor, Andrew, et al. "dcc--help: Transforming the Role of the Compiler by Generating Context-Aware Error Explanations with Large Language Models." Proceedings of the 55th ACM Technical Symposium on Computer Science Education V. 1. 2024.</a:t>
            </a:r>
          </a:p>
          <a:p>
            <a:r>
              <a:rPr lang="en-US" sz="1800" i="1"/>
              <a:t>3}Kimmel, Bailey, et al. "Enhancing programming error messages in real time with generative AI." Extended Abstracts of the CHI Conference on Human Factors in Computing Systems. 2024.</a:t>
            </a:r>
          </a:p>
          <a:p>
            <a:r>
              <a:rPr lang="en-US" sz="1800" i="1"/>
              <a:t>4}Charles, T., Gwilliam, C. The Effect of Automated Error Message Feedback on Undergraduate Physics Students Learning Python: Reducing Anxiety and Building Confidence. Journal for STEM Educ Res 6, 326–357 (2023).</a:t>
            </a:r>
          </a:p>
          <a:p>
            <a:r>
              <a:rPr lang="en-US" sz="1800" i="1"/>
              <a:t>5}Malik, Shafaque Saira, et al. "Programmer Assisted Tool Impact on Static Error Handling Capability of Novices in Imperative First Programming Languages." LC International Journal of STEM (ISSN: 2708-7123) 1.4 (2020): 90-102.</a:t>
            </a:r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121" y="276619"/>
            <a:ext cx="8229600" cy="790950"/>
          </a:xfrm>
        </p:spPr>
        <p:txBody>
          <a:bodyPr lIns="45719" tIns="45720" rIns="45719" bIns="45720" anchor="ctr"/>
          <a:lstStyle/>
          <a:p>
            <a:r>
              <a:rPr lang="en-US">
                <a:latin typeface="Times New Roman"/>
                <a:cs typeface="Times New Roman"/>
              </a:rPr>
              <a:t>References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67479-62BE-CD4A-1831-454C3E7522A5}"/>
              </a:ext>
            </a:extLst>
          </p:cNvPr>
          <p:cNvSpPr txBox="1"/>
          <p:nvPr/>
        </p:nvSpPr>
        <p:spPr>
          <a:xfrm>
            <a:off x="708476" y="1482248"/>
            <a:ext cx="7897905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i="1"/>
              <a:t>6}Becker, Brett A., et al. "Compiler error messages considered unhelpful: The landscape of text-based programming error message research." Proceedings of the working group reports on innovation and technology in computer science education (2019): 177-210.</a:t>
            </a:r>
          </a:p>
          <a:p>
            <a:r>
              <a:rPr lang="en-US" sz="1800" i="1"/>
              <a:t>7}Pettit, Raymond S., John Homer, and Roger Gee. "Do Enhanced Compiler Error Messages Help Students? Results Inconclusive." Proceedings of the 2017 ACM SIGCSE Technical Symposium on Computer Science Education. 2017.</a:t>
            </a:r>
          </a:p>
          <a:p>
            <a:r>
              <a:rPr lang="en-US" sz="1800" i="1"/>
              <a:t>8}Prather, James, et al. "On novices' interaction with compiler error messages: A human factors approach." Proceedings of the 2017 ACM Conference on International Computing Education Research. 2017.</a:t>
            </a:r>
          </a:p>
          <a:p>
            <a:r>
              <a:rPr lang="en-US" sz="1800" i="1"/>
              <a:t>9}Becker, Brett A. "An effective approach to enhancing compiler error messages." Proceedings of the 47th ACM Technical Symposium on Computing Science Education. 2016.</a:t>
            </a:r>
          </a:p>
          <a:p>
            <a:r>
              <a:rPr lang="en-US" sz="1800" i="1"/>
              <a:t>10}Traver, V. Javier. "On compiler error messages: what they say and what they mean." Advances in Human‐Computer Interaction 2010.1 (2010): 602570.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800" b="0" i="1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907198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69D0-3598-E557-BEA9-B8EC9D78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ADF8-D52F-A5B3-0FFE-379EECB7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A90BB-58D3-A8DE-D97F-0FB83C40A39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47461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11_Default Design</vt:lpstr>
      <vt:lpstr>Compiler Error Explainer using Pattern-Based Analysis and Adaptive Confidence Scoring</vt:lpstr>
      <vt:lpstr>Problem Definition</vt:lpstr>
      <vt:lpstr>Literature Survey</vt:lpstr>
      <vt:lpstr>Literature Survey</vt:lpstr>
      <vt:lpstr>Literature Survey</vt:lpstr>
      <vt:lpstr>Software/Tools Requirements</vt:lpstr>
      <vt:lpstr>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</vt:lpstr>
      <vt:lpstr>Conclusion </vt:lpstr>
      <vt:lpstr>Future Enhancements </vt:lpstr>
      <vt:lpstr>Contribution of the Team Members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revision>2</cp:revision>
  <dcterms:modified xsi:type="dcterms:W3CDTF">2026-05-09T06:01:14Z</dcterms:modified>
</cp:coreProperties>
</file>